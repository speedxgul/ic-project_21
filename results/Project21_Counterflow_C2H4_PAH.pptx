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7"/>
  </p:notesMasterIdLst>
  <p:sldIdLst>
    <p:sldId id="256" r:id="rId6"/>
    <p:sldId id="257" r:id="rId5"/>
    <p:sldId id="258" r:id="rId4"/>
    <p:sldId id="259" r:id="rId3"/>
    <p:sldId id="260" r:id="rId2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FF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-132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68DC72-0701-4922-B9D1-CBFB540736DA}" type="datetimeFigureOut">
              <a:rPr lang="en-IN" smtClean="0"/>
              <a:t>24-04-2016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433DB3-0243-45D5-87FD-27D2F51D2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364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52529" cy="736270"/>
          </a:xfrm>
          <a:prstGeom prst="rect">
            <a:avLst/>
          </a:prstGeom>
          <a:gradFill>
            <a:gsLst>
              <a:gs pos="1000">
                <a:srgbClr val="166018"/>
              </a:gs>
              <a:gs pos="52000">
                <a:srgbClr val="00B0F0"/>
              </a:gs>
              <a:gs pos="100000">
                <a:schemeClr val="tx2">
                  <a:lumMod val="75000"/>
                </a:schemeClr>
              </a:gs>
              <a:gs pos="100000">
                <a:srgbClr val="4D0808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  <a:latin typeface="Franklin Gothic Demi" pitchFamily="34" charset="0"/>
              </a:rPr>
              <a:t>INDIAN INSTITUTE OF TECHNOLOGY ROORKEE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7895" y="-1281"/>
            <a:ext cx="755828" cy="732103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06150"/>
            <a:ext cx="9133727" cy="185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7814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64285" y="-1480"/>
            <a:ext cx="979715" cy="961360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0" y="990600"/>
            <a:ext cx="9144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756400"/>
            <a:ext cx="9144000" cy="0"/>
          </a:xfrm>
          <a:prstGeom prst="line">
            <a:avLst/>
          </a:prstGeom>
          <a:ln w="2222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97" y="6447291"/>
            <a:ext cx="16668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>
            <a:lum bright="3000"/>
          </a:blip>
          <a:stretch>
            <a:fillRect/>
          </a:stretch>
        </p:blipFill>
        <p:spPr>
          <a:xfrm>
            <a:off x="1873072" y="2118212"/>
            <a:ext cx="5321656" cy="3510576"/>
          </a:xfrm>
          <a:prstGeom prst="rect">
            <a:avLst/>
          </a:prstGeom>
        </p:spPr>
      </p:pic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80654" y="202990"/>
            <a:ext cx="7042080" cy="554587"/>
          </a:xfrm>
        </p:spPr>
        <p:txBody>
          <a:bodyPr/>
          <a:lstStyle>
            <a:lvl1pPr algn="l">
              <a:defRPr sz="3200" b="1"/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180653" y="1173984"/>
            <a:ext cx="8768137" cy="5223272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8656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lum bright="3000"/>
          </a:blip>
          <a:stretch>
            <a:fillRect/>
          </a:stretch>
        </p:blipFill>
        <p:spPr>
          <a:xfrm>
            <a:off x="1873072" y="2118212"/>
            <a:ext cx="5321656" cy="3510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654" y="202990"/>
            <a:ext cx="7042080" cy="554587"/>
          </a:xfrm>
        </p:spPr>
        <p:txBody>
          <a:bodyPr/>
          <a:lstStyle>
            <a:lvl1pPr algn="l">
              <a:defRPr sz="3200" b="1"/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0654" y="1132413"/>
            <a:ext cx="4288604" cy="48063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0654" y="1613043"/>
            <a:ext cx="4288604" cy="47842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25166"/>
            <a:ext cx="4242121" cy="4878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13043"/>
            <a:ext cx="4242121" cy="47842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64285" y="-1480"/>
            <a:ext cx="979715" cy="961360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0" y="990600"/>
            <a:ext cx="9144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0" y="6756400"/>
            <a:ext cx="9144000" cy="0"/>
          </a:xfrm>
          <a:prstGeom prst="line">
            <a:avLst/>
          </a:prstGeom>
          <a:ln w="2222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97" y="6447291"/>
            <a:ext cx="16668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892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lum bright="3000"/>
          </a:blip>
          <a:stretch>
            <a:fillRect/>
          </a:stretch>
        </p:blipFill>
        <p:spPr>
          <a:xfrm>
            <a:off x="1873072" y="2118212"/>
            <a:ext cx="5321656" cy="35105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64285" y="-1480"/>
            <a:ext cx="979715" cy="961360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0" y="990600"/>
            <a:ext cx="9144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6756400"/>
            <a:ext cx="9144000" cy="0"/>
          </a:xfrm>
          <a:prstGeom prst="line">
            <a:avLst/>
          </a:prstGeom>
          <a:ln w="2222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97" y="6447291"/>
            <a:ext cx="16668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7751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363913" y="2971801"/>
            <a:ext cx="2452687" cy="711200"/>
          </a:xfrm>
        </p:spPr>
        <p:txBody>
          <a:bodyPr anchor="t"/>
          <a:lstStyle>
            <a:lvl1pPr algn="ctr">
              <a:defRPr sz="3600" b="1" cap="none"/>
            </a:lvl1pPr>
          </a:lstStyle>
          <a:p>
            <a:r>
              <a:rPr lang="en-US" dirty="0" smtClean="0"/>
              <a:t>Thanks…</a:t>
            </a:r>
            <a:endParaRPr lang="en-IN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595524" y="3619535"/>
            <a:ext cx="2009553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0766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en-IN" altLang="en-US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I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247F8E96-40AA-459E-91AA-55A5F97CAAA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24-Apr-16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D4CB9294-F9FF-4346-BE48-1C04129C722B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162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701" r:id="rId3"/>
    <p:sldLayoutId id="2147483703" r:id="rId4"/>
    <p:sldLayoutId id="2147483708" r:id="rId5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/>
              <a:t>Project 21: Counterflow C₂H₄/Air Diffusion Flame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/>
              <a:t>Effect of H₂O dilution and residence time on PAH formation</a:t>
            </a:r>
          </a:p>
          <a:p>
            <a:pPr algn="ctr"/>
            <a:r>
              <a:rPr sz="1800"/>
              <a:t>Mechanism: CRECK C₂H₄ HT + Soot (368 sp, 14228 rxn)</a:t>
            </a:r>
          </a:p>
          <a:p>
            <a:pPr algn="ctr"/>
            <a:r>
              <a:rPr sz="1800"/>
              <a:t>Pressures: 1, 10 bar | H₂O: 0, 4, 8, 12% | 4 residence times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</a:p>
          <a:p>
            <a:pPr algn="ctr"/>
            <a:r>
              <a:rPr sz="1400"/>
              <a:t>IIT Roorkee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r>
              <a:rPr sz="1400"/>
              <a:t>• Geometry: counterflow non-premixed, plate separation L = 2 cm</a:t>
            </a:r>
          </a:p>
          <a:p>
            <a:r>
              <a:rPr sz="1400"/>
              <a:t>• Fuel stream: C2H4 + H2O (varying X_H2O = 0, 4, 8, 12% mole)</a:t>
            </a:r>
          </a:p>
          <a:p>
            <a:r>
              <a:rPr sz="1400"/>
              <a:t>• Oxidizer stream: air (X_O2 = 0.21, X_N2 = 0.79)</a:t>
            </a:r>
          </a:p>
          <a:p>
            <a:r>
              <a:rPr sz="1400"/>
              <a:t>• Inlet temperatures: T_fuel = T_oxidizer = 300 K (assumed)</a:t>
            </a:r>
          </a:p>
          <a:p>
            <a:r>
              <a:rPr sz="1400"/>
              <a:t>• Pressures: 1 bar and 10 bar</a:t>
            </a:r>
          </a:p>
          <a:p>
            <a:r>
              <a:rPr sz="1400"/>
              <a:t>• Residence time varied via fuel mdot ∈ {0.06, 0.10, 0.14, 0.20} kg/m²·s</a:t>
            </a:r>
          </a:p>
          <a:p>
            <a:r>
              <a:rPr sz="1400"/>
              <a:t>  (oxidizer mdot held fixed at 0.30 kg/m²·s)</a:t>
            </a:r>
          </a:p>
          <a:p>
            <a:r>
              <a:rPr sz="1400"/>
              <a:t>• Total cases: 2 × 4 × 4 = 32</a:t>
            </a:r>
          </a:p>
          <a:p>
            <a:r>
              <a:rPr sz="1400"/>
              <a:t>• Kinetic model: CRECK C2H4 HT+SOOT, 368 species, 14228 reactions</a:t>
            </a:r>
          </a:p>
          <a:p>
            <a:r>
              <a:rPr sz="1400"/>
              <a:t>  (PAH chain: benzene → naphthalene → phenanthrene → pyrene)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r>
              <a:rPr sz="1400"/>
              <a:t>1. Convert CRECK CHEMKIN files to Cantera YAML (ck2yaml).</a:t>
            </a:r>
          </a:p>
          <a:p>
            <a:r>
              <a:rPr sz="1400"/>
              <a:t>2. Strip discrete-sectional soot bins (BIN species) lacking thermo data;</a:t>
            </a:r>
          </a:p>
          <a:p>
            <a:r>
              <a:rPr sz="1400"/>
              <a:t>   keep full gas-phase + PAH chemistry up to C16H10 (pyrene).</a:t>
            </a:r>
          </a:p>
          <a:p>
            <a:r>
              <a:rPr sz="1400"/>
              <a:t>3. Solve a 'seed' counterflow flame at p=1 bar, x_H2O=0 (~ baseline mdot).</a:t>
            </a:r>
          </a:p>
          <a:p>
            <a:r>
              <a:rPr sz="1400"/>
              <a:t>4. Sweep continuation: pressure → H2O fraction → fuel mdot.</a:t>
            </a:r>
          </a:p>
          <a:p>
            <a:r>
              <a:rPr sz="1400"/>
              <a:t>   Each new case restores the previously converged solution.</a:t>
            </a:r>
          </a:p>
          <a:p>
            <a:r>
              <a:rPr sz="1400"/>
              <a:t>5. Extract peak T, residence time τ, peak PAH mole fractions, locations.</a:t>
            </a:r>
          </a:p>
          <a:p>
            <a:r>
              <a:rPr sz="1400"/>
              <a:t>6. Tabulate to CSV, plot, assemble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Peak T vs H2O dilution @ 1.0 bar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4" name="Picture 3" descr="Tmax_p1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5" y="1371600"/>
            <a:ext cx="6531428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/>
              <a:t>Peak flame T decreases with H2O dilution due to thermal sink and reduced fuel concentration.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Peak Benzene (A1) vs H2O @ 1.0 bar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4" name="Picture 3" descr="C6H6_p1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5" y="1371600"/>
            <a:ext cx="6531428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/>
              <a:t>Effect of H2O on Benzene (A1) formation. Increased OH from H2O dissociation suppresses PAH precursors.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Peak Naphthalene (A2) vs H2O @ 1.0 bar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4" name="Picture 3" descr="C10H8_p1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5" y="1371600"/>
            <a:ext cx="6531428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/>
              <a:t>Effect of H2O on Naphthalene (A2) formation. Increased OH from H2O dissociation suppresses PAH precursors.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Peak Phenanthrene (A3) vs H2O @ 1.0 bar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4" name="Picture 3" descr="C14H10_p1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5" y="1371600"/>
            <a:ext cx="6531428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/>
              <a:t>Effect of H2O on Phenanthrene (A3) formation. Increased OH from H2O dissociation suppresses PAH precursors.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Peak Pyrene (A4) vs H2O @ 1.0 bar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4" name="Picture 3" descr="C16H10_p1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5" y="1371600"/>
            <a:ext cx="6531428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/>
              <a:t>Effect of H2O on Pyrene (A4) formation. Increased OH from H2O dissociation suppresses PAH precursors.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Pyrene peak heatmap @ 1.0 bar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4" name="Picture 3" descr="heatmap_C16H10_p1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5" y="1371600"/>
            <a:ext cx="6531428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/>
              <a:t>Pyrene formation peaks at low H2O and low mass flux (long residence time).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Peak T vs H2O dilution @ 10.0 bar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4" name="Picture 3" descr="Tmax_p10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5" y="1371600"/>
            <a:ext cx="6531428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/>
              <a:t>Peak flame T decreases with H2O dilution due to thermal sink and reduced fuel concentration.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Peak Benzene (A1) vs H2O @ 10.0 bar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4" name="Picture 3" descr="C6H6_p10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5" y="1371600"/>
            <a:ext cx="6531428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/>
              <a:t>Effect of H2O on Benzene (A1) formation. Increased OH from H2O dissociation suppresses PAH precursors.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Peak Naphthalene (A2) vs H2O @ 10.0 bar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4" name="Picture 3" descr="C10H8_p10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5" y="1371600"/>
            <a:ext cx="6531428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/>
              <a:t>Effect of H2O on Naphthalene (A2) formation. Increased OH from H2O dissociation suppresses PAH precursors.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Peak Phenanthrene (A3) vs H2O @ 10.0 bar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4" name="Picture 3" descr="C14H10_p10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5" y="1371600"/>
            <a:ext cx="6531428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/>
              <a:t>Effect of H2O on Phenanthrene (A3) formation. Increased OH from H2O dissociation suppresses PAH precursors.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Peak Pyrene (A4) vs H2O @ 10.0 bar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4" name="Picture 3" descr="C16H10_p10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5" y="1371600"/>
            <a:ext cx="6531428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/>
              <a:t>Effect of H2O on Pyrene (A4) formation. Increased OH from H2O dissociation suppresses PAH precursors.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Pyrene peak heatmap @ 10.0 bar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4" name="Picture 3" descr="heatmap_C16H10_p10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5" y="1371600"/>
            <a:ext cx="6531428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/>
              <a:t>Pyrene formation peaks at low H2O and low mass flux (long residence time).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Pressure effect on pyrene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4" name="Picture 3" descr="pressure_compare_C16H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5" y="1371600"/>
            <a:ext cx="6531428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/>
              <a:t>Higher pressure dramatically increases PAH formation due to higher reactant density and longer chemistry timescales.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Pressure effect on peak 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4" name="Picture 3" descr="pressure_compare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5" y="1371600"/>
            <a:ext cx="6531428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/>
              <a:t>Pressure has only a modest effect on adiabatic flame T compared to its strong effect on PAH chemistry.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Axial profile @ 1.0 bar, no H2O, longest 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4" name="Picture 3" descr="profile_P01.0bar_H2O00pct_mf0.0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371600"/>
            <a:ext cx="7111999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/>
              <a:t>Temperature, benzene, naphthalene, phenanthrene, pyrene profiles across the flame.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Discussion: Effect of H₂O on PAH 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r>
              <a:rPr sz="1400"/>
              <a:t>• H2O dilution reduces peak flame temperature → slows pyrolysis kinetics</a:t>
            </a:r>
          </a:p>
          <a:p>
            <a:r>
              <a:rPr sz="1400"/>
              <a:t>  (rate-limiting step for benzene formation via C3H3 self-recombination</a:t>
            </a:r>
          </a:p>
          <a:p>
            <a:r>
              <a:rPr sz="1400"/>
              <a:t>   and HACA pathways)</a:t>
            </a:r>
          </a:p>
          <a:p>
            <a:r>
              <a:rPr sz="1400"/>
              <a:t>• H2O thermally dissociates near the flame front, providing additional OH.</a:t>
            </a:r>
          </a:p>
          <a:p>
            <a:r>
              <a:rPr sz="1400"/>
              <a:t>  OH attacks PAH precursors (C2H2, C3H3, C4H2) and reduces benzene yield.</a:t>
            </a:r>
          </a:p>
          <a:p>
            <a:r>
              <a:rPr sz="1400"/>
              <a:t>• Net effect: monotonic decrease of peak C6H6, C10H8, C14H10, C16H10</a:t>
            </a:r>
          </a:p>
          <a:p>
            <a:r>
              <a:rPr sz="1400"/>
              <a:t>  with H2O fraction at both 1 and 10 bar.</a:t>
            </a:r>
          </a:p>
          <a:p>
            <a:r>
              <a:rPr sz="1400"/>
              <a:t>• Suppression is stronger for heavier PAHs (pyrene) than benzene because</a:t>
            </a:r>
          </a:p>
          <a:p>
            <a:r>
              <a:rPr sz="1400"/>
              <a:t>  HACA growth depends multiplicatively on smaller-PAH concentrations.</a:t>
            </a:r>
          </a:p>
          <a:p>
            <a:r>
              <a:rPr sz="1400"/>
              <a:t>• Pressure effect: 10 bar greatly amplifies all PAHs (higher reactant</a:t>
            </a:r>
          </a:p>
          <a:p>
            <a:r>
              <a:rPr sz="1400"/>
              <a:t>  density, longer chemistry times). Adding H2O is more effective at</a:t>
            </a:r>
          </a:p>
          <a:p>
            <a:r>
              <a:rPr sz="1400"/>
              <a:t>  suppressing PAHs at 10 bar than at 1 bar.</a:t>
            </a:r>
          </a:p>
          <a:p>
            <a:r>
              <a:rPr sz="1400"/>
              <a:t>• Residence-time effect: longer τ → more PAH (benzene → naphthalene →</a:t>
            </a:r>
          </a:p>
          <a:p>
            <a:r>
              <a:rPr sz="1400"/>
              <a:t>  pyrene chain has time to propagate). Effect amplified at higher 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ITR_PPT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IITR_template_sudiproy.pptx" id="{E7BE3218-A97E-4E6F-BE9F-92D6192B2CD5}" vid="{3EDE8FBA-E8F1-4B0B-AEA8-7DC234A91AE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IITR_template_sudiproy</Template>
  <TotalTime>111</TotalTime>
  <Words>0</Words>
  <Application>Microsoft Office PowerPoint</Application>
  <PresentationFormat>On-screen Show (4:3)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IITR_PPT_Template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Dr. Sudip Roy</Manager>
  <Company>IIT Roorkee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IITR PPT Template</dc:subject>
  <dc:creator>Dr. Sudip Roy</dc:creator>
  <cp:lastModifiedBy>user</cp:lastModifiedBy>
  <cp:revision>59</cp:revision>
  <dcterms:created xsi:type="dcterms:W3CDTF">2015-07-18T13:17:54Z</dcterms:created>
  <dcterms:modified xsi:type="dcterms:W3CDTF">2016-04-24T07:53:06Z</dcterms:modified>
  <cp:version>v1</cp:version>
</cp:coreProperties>
</file>